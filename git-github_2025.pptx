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4" r:id="rId8"/>
    <p:sldId id="265" r:id="rId9"/>
    <p:sldId id="263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5F5"/>
    <a:srgbClr val="F9F0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124" d="100"/>
          <a:sy n="124" d="100"/>
        </p:scale>
        <p:origin x="115" y="17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7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hyperlink" Target="https://git-scm.com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hyperlink" Target="https://git-scm.com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7C35E3-E5F2-BA7A-0BC1-39C53E1B4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3AEF853-5F16-A3B0-9F36-B1A9286D625D}"/>
              </a:ext>
            </a:extLst>
          </p:cNvPr>
          <p:cNvGrpSpPr/>
          <p:nvPr/>
        </p:nvGrpSpPr>
        <p:grpSpPr>
          <a:xfrm>
            <a:off x="2059443" y="-161"/>
            <a:ext cx="7916280" cy="5323819"/>
            <a:chOff x="-71949" y="-12994"/>
            <a:chExt cx="1675988" cy="986566"/>
          </a:xfrm>
        </p:grpSpPr>
        <p:sp>
          <p:nvSpPr>
            <p:cNvPr id="14" name="Freeform 3">
              <a:extLst>
                <a:ext uri="{FF2B5EF4-FFF2-40B4-BE49-F238E27FC236}">
                  <a16:creationId xmlns:a16="http://schemas.microsoft.com/office/drawing/2014/main" id="{A33862CC-78A8-B02E-93BC-BCE8B6D3ABCC}"/>
                </a:ext>
              </a:extLst>
            </p:cNvPr>
            <p:cNvSpPr/>
            <p:nvPr/>
          </p:nvSpPr>
          <p:spPr>
            <a:xfrm>
              <a:off x="-71949" y="-12994"/>
              <a:ext cx="1675988" cy="986566"/>
            </a:xfrm>
            <a:custGeom>
              <a:avLst/>
              <a:gdLst/>
              <a:ahLst/>
              <a:cxnLst/>
              <a:rect l="l" t="t" r="r" b="b"/>
              <a:pathLst>
                <a:path w="1675988" h="986566">
                  <a:moveTo>
                    <a:pt x="0" y="0"/>
                  </a:moveTo>
                  <a:lnTo>
                    <a:pt x="1675988" y="0"/>
                  </a:lnTo>
                  <a:lnTo>
                    <a:pt x="1675988" y="986566"/>
                  </a:lnTo>
                  <a:lnTo>
                    <a:pt x="0" y="986566"/>
                  </a:lnTo>
                  <a:close/>
                </a:path>
              </a:pathLst>
            </a:custGeom>
            <a:blipFill>
              <a:blip r:embed="rId2"/>
              <a:stretch>
                <a:fillRect l="-97" r="-97"/>
              </a:stretch>
            </a:blipFill>
          </p:spPr>
          <p:txBody>
            <a:bodyPr/>
            <a:lstStyle>
              <a:defPPr>
                <a:defRPr lang="en-US"/>
              </a:defPPr>
              <a:lvl1pPr marL="0" algn="l" defTabSz="1792956" rtl="0" eaLnBrk="1" latinLnBrk="0" hangingPunct="1">
                <a:defRPr sz="352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896478" algn="l" defTabSz="1792956" rtl="0" eaLnBrk="1" latinLnBrk="0" hangingPunct="1">
                <a:defRPr sz="352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792956" algn="l" defTabSz="1792956" rtl="0" eaLnBrk="1" latinLnBrk="0" hangingPunct="1">
                <a:defRPr sz="352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689433" algn="l" defTabSz="1792956" rtl="0" eaLnBrk="1" latinLnBrk="0" hangingPunct="1">
                <a:defRPr sz="352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585911" algn="l" defTabSz="1792956" rtl="0" eaLnBrk="1" latinLnBrk="0" hangingPunct="1">
                <a:defRPr sz="352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482389" algn="l" defTabSz="1792956" rtl="0" eaLnBrk="1" latinLnBrk="0" hangingPunct="1">
                <a:defRPr sz="352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378867" algn="l" defTabSz="1792956" rtl="0" eaLnBrk="1" latinLnBrk="0" hangingPunct="1">
                <a:defRPr sz="352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275344" algn="l" defTabSz="1792956" rtl="0" eaLnBrk="1" latinLnBrk="0" hangingPunct="1">
                <a:defRPr sz="352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171822" algn="l" defTabSz="1792956" rtl="0" eaLnBrk="1" latinLnBrk="0" hangingPunct="1">
                <a:defRPr sz="352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sp>
        <p:nvSpPr>
          <p:cNvPr id="10" name="TextBox 7">
            <a:extLst>
              <a:ext uri="{FF2B5EF4-FFF2-40B4-BE49-F238E27FC236}">
                <a16:creationId xmlns:a16="http://schemas.microsoft.com/office/drawing/2014/main" id="{3860824A-6EF5-2776-419F-115378A7FD85}"/>
              </a:ext>
            </a:extLst>
          </p:cNvPr>
          <p:cNvSpPr txBox="1"/>
          <p:nvPr/>
        </p:nvSpPr>
        <p:spPr>
          <a:xfrm>
            <a:off x="1317" y="133326"/>
            <a:ext cx="4443563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</a:t>
            </a:r>
          </a:p>
          <a:p>
            <a:r>
              <a:rPr lang="en-US" sz="1600" b="1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         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id="{0973532F-ECDB-F1F1-8535-6176E87A1238}"/>
              </a:ext>
            </a:extLst>
          </p:cNvPr>
          <p:cNvSpPr txBox="1"/>
          <p:nvPr/>
        </p:nvSpPr>
        <p:spPr>
          <a:xfrm>
            <a:off x="1802715" y="5081857"/>
            <a:ext cx="9412632" cy="4847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423"/>
              </a:lnSpc>
            </a:pPr>
            <a:r>
              <a:rPr lang="en-US" sz="6600" b="1" dirty="0">
                <a:solidFill>
                  <a:srgbClr val="00356B"/>
                </a:solidFill>
                <a:latin typeface="Gautami"/>
                <a:ea typeface="Sans Serif Collection"/>
                <a:cs typeface="Gautami"/>
                <a:sym typeface="Agrandir Narrow Heavy"/>
              </a:rPr>
              <a:t>Git &amp; GitHub Workshop</a:t>
            </a:r>
            <a:endParaRPr lang="en-US" sz="6600" b="1" dirty="0">
              <a:solidFill>
                <a:srgbClr val="00356B"/>
              </a:solidFill>
              <a:latin typeface="Gautami"/>
              <a:ea typeface="Sans Serif Collection"/>
              <a:cs typeface="Gautami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8925BF2-A03C-8823-D033-8D4ED501A00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128" t="10181" r="31279" b="73571"/>
          <a:stretch>
            <a:fillRect/>
          </a:stretch>
        </p:blipFill>
        <p:spPr>
          <a:xfrm>
            <a:off x="4993870" y="2104392"/>
            <a:ext cx="2047442" cy="145916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F05F294-AC32-B80A-175D-6843ED62B7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402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9EADB4-538B-AE0A-5B7F-F0641D27F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7">
            <a:extLst>
              <a:ext uri="{FF2B5EF4-FFF2-40B4-BE49-F238E27FC236}">
                <a16:creationId xmlns:a16="http://schemas.microsoft.com/office/drawing/2014/main" id="{D2F36552-AE59-007E-B2F0-2DBF521244AB}"/>
              </a:ext>
            </a:extLst>
          </p:cNvPr>
          <p:cNvSpPr txBox="1"/>
          <p:nvPr/>
        </p:nvSpPr>
        <p:spPr>
          <a:xfrm>
            <a:off x="1317" y="133326"/>
            <a:ext cx="4443563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</a:t>
            </a:r>
          </a:p>
          <a:p>
            <a:r>
              <a:rPr lang="en-US" sz="1600" b="1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         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158D8DB-5CEB-50D8-B068-75728660E4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AB3D9AA-E8FF-5E68-54A5-913A16D8F978}"/>
              </a:ext>
            </a:extLst>
          </p:cNvPr>
          <p:cNvSpPr txBox="1"/>
          <p:nvPr/>
        </p:nvSpPr>
        <p:spPr>
          <a:xfrm>
            <a:off x="458110" y="987903"/>
            <a:ext cx="10926415" cy="526297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400" b="1" dirty="0">
                <a:latin typeface="Microsoft Sans Serif"/>
                <a:ea typeface="Microsoft Sans Serif"/>
                <a:cs typeface="Microsoft Sans Serif"/>
              </a:rPr>
              <a:t>Who? </a:t>
            </a:r>
            <a:r>
              <a:rPr lang="en-US" sz="2400" dirty="0">
                <a:latin typeface="Microsoft Sans Serif"/>
                <a:ea typeface="Microsoft Sans Serif"/>
                <a:cs typeface="Microsoft Sans Serif"/>
              </a:rPr>
              <a:t> </a:t>
            </a:r>
            <a:endParaRPr lang="en-US" dirty="0"/>
          </a:p>
          <a:p>
            <a:pPr marL="742950" lvl="1" indent="-285750">
              <a:buFont typeface="Courier New"/>
              <a:buChar char="o"/>
            </a:pPr>
            <a:r>
              <a:rPr lang="en-US" sz="2400" dirty="0">
                <a:latin typeface="Microsoft Sans Serif"/>
                <a:ea typeface="Microsoft Sans Serif"/>
                <a:cs typeface="Microsoft Sans Serif"/>
              </a:rPr>
              <a:t>Mitchell Horn, Senior Research Data Analyst, YSE </a:t>
            </a:r>
            <a:endParaRPr lang="en-US" dirty="0"/>
          </a:p>
          <a:p>
            <a:pPr marL="285750" indent="-285750">
              <a:buFont typeface="Arial"/>
              <a:buChar char="•"/>
            </a:pPr>
            <a:endParaRPr lang="en-US" sz="2400" dirty="0">
              <a:latin typeface="Microsoft Sans Serif"/>
              <a:ea typeface="Microsoft Sans Serif"/>
              <a:cs typeface="Microsoft Sans Serif"/>
            </a:endParaRPr>
          </a:p>
          <a:p>
            <a:pPr marL="285750" indent="-285750">
              <a:buFont typeface="Arial"/>
              <a:buChar char="•"/>
            </a:pPr>
            <a:r>
              <a:rPr lang="en-US" sz="2400" b="1" dirty="0">
                <a:latin typeface="Microsoft Sans Serif"/>
                <a:ea typeface="Microsoft Sans Serif"/>
                <a:cs typeface="Microsoft Sans Serif"/>
              </a:rPr>
              <a:t>What?</a:t>
            </a:r>
            <a:r>
              <a:rPr lang="en-US" sz="2400" dirty="0">
                <a:latin typeface="Microsoft Sans Serif"/>
                <a:ea typeface="Microsoft Sans Serif"/>
                <a:cs typeface="Microsoft Sans Serif"/>
              </a:rPr>
              <a:t> </a:t>
            </a:r>
          </a:p>
          <a:p>
            <a:pPr marL="742950" lvl="1" indent="-285750">
              <a:buFont typeface="Courier New"/>
              <a:buChar char="o"/>
            </a:pPr>
            <a:r>
              <a:rPr lang="en-US" sz="2400" dirty="0">
                <a:latin typeface="Microsoft Sans Serif"/>
                <a:ea typeface="Microsoft Sans Serif"/>
                <a:cs typeface="Microsoft Sans Serif"/>
              </a:rPr>
              <a:t>Git &amp; GitHub</a:t>
            </a:r>
            <a:endParaRPr lang="en-US" dirty="0"/>
          </a:p>
          <a:p>
            <a:pPr marL="285750" indent="-285750">
              <a:buFont typeface="Arial"/>
              <a:buChar char="•"/>
            </a:pPr>
            <a:endParaRPr lang="en-US" sz="2400" dirty="0">
              <a:latin typeface="Microsoft Sans Serif"/>
              <a:ea typeface="Microsoft Sans Serif"/>
              <a:cs typeface="Microsoft Sans Serif"/>
            </a:endParaRPr>
          </a:p>
          <a:p>
            <a:pPr marL="285750" indent="-285750">
              <a:buFont typeface="Arial"/>
              <a:buChar char="•"/>
            </a:pPr>
            <a:r>
              <a:rPr lang="en-US" sz="2400" b="1" dirty="0">
                <a:latin typeface="Microsoft Sans Serif"/>
                <a:ea typeface="Microsoft Sans Serif"/>
                <a:cs typeface="Microsoft Sans Serif"/>
              </a:rPr>
              <a:t>Why?</a:t>
            </a:r>
            <a:r>
              <a:rPr lang="en-US" sz="2400" dirty="0">
                <a:latin typeface="Microsoft Sans Serif"/>
                <a:ea typeface="Microsoft Sans Serif"/>
                <a:cs typeface="Microsoft Sans Serif"/>
              </a:rPr>
              <a:t> </a:t>
            </a:r>
          </a:p>
          <a:p>
            <a:pPr marL="742950" lvl="1" indent="-285750">
              <a:buFont typeface="Courier New"/>
              <a:buChar char="o"/>
            </a:pPr>
            <a:r>
              <a:rPr lang="en-US" sz="2400" dirty="0">
                <a:latin typeface="Microsoft Sans Serif"/>
                <a:ea typeface="Microsoft Sans Serif"/>
                <a:cs typeface="Microsoft Sans Serif"/>
              </a:rPr>
              <a:t>Version Controlling and Collaborate your Research</a:t>
            </a:r>
            <a:endParaRPr lang="en-US" dirty="0"/>
          </a:p>
          <a:p>
            <a:pPr marL="285750" indent="-285750">
              <a:buFont typeface="Arial"/>
              <a:buChar char="•"/>
            </a:pPr>
            <a:endParaRPr lang="en-US" sz="2400" dirty="0">
              <a:latin typeface="Microsoft Sans Serif"/>
              <a:ea typeface="Microsoft Sans Serif"/>
              <a:cs typeface="Microsoft Sans Serif"/>
            </a:endParaRPr>
          </a:p>
          <a:p>
            <a:pPr marL="285750" indent="-285750">
              <a:buFont typeface="Arial"/>
              <a:buChar char="•"/>
            </a:pPr>
            <a:r>
              <a:rPr lang="en-US" sz="2400" b="1" dirty="0">
                <a:latin typeface="Microsoft Sans Serif"/>
                <a:ea typeface="Microsoft Sans Serif"/>
                <a:cs typeface="Microsoft Sans Serif"/>
              </a:rPr>
              <a:t>How? </a:t>
            </a:r>
          </a:p>
          <a:p>
            <a:pPr marL="742950" lvl="1" indent="-285750">
              <a:buFont typeface="Courier New"/>
              <a:buChar char="o"/>
            </a:pPr>
            <a:r>
              <a:rPr lang="en-US" sz="2400" dirty="0">
                <a:latin typeface="Microsoft Sans Serif"/>
                <a:ea typeface="Microsoft Sans Serif"/>
                <a:cs typeface="Microsoft Sans Serif"/>
              </a:rPr>
              <a:t>Follow a hands-on practical on your laptop</a:t>
            </a:r>
            <a:endParaRPr lang="en-US" dirty="0"/>
          </a:p>
          <a:p>
            <a:pPr marL="285750" indent="-285750">
              <a:buFont typeface="Arial"/>
              <a:buChar char="•"/>
            </a:pPr>
            <a:endParaRPr lang="en-US" sz="2400" b="1" dirty="0">
              <a:latin typeface="Microsoft Sans Serif"/>
              <a:ea typeface="Microsoft Sans Serif"/>
              <a:cs typeface="Microsoft Sans Serif"/>
            </a:endParaRPr>
          </a:p>
          <a:p>
            <a:pPr marL="285750" indent="-285750">
              <a:buFont typeface="Arial"/>
              <a:buChar char="•"/>
            </a:pPr>
            <a:r>
              <a:rPr lang="en-US" sz="2400" b="1" dirty="0">
                <a:latin typeface="Microsoft Sans Serif"/>
                <a:ea typeface="Microsoft Sans Serif"/>
                <a:cs typeface="Microsoft Sans Serif"/>
              </a:rPr>
              <a:t>Goal? </a:t>
            </a:r>
            <a:endParaRPr lang="en-US" dirty="0">
              <a:latin typeface="Aptos" panose="020B0004020202020204"/>
              <a:ea typeface="Microsoft Sans Serif"/>
              <a:cs typeface="Microsoft Sans Serif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sz="2400" dirty="0">
                <a:latin typeface="Microsoft Sans Serif"/>
                <a:ea typeface="Microsoft Sans Serif"/>
                <a:cs typeface="Microsoft Sans Serif"/>
              </a:rPr>
              <a:t>Create your own GitHub page (and learn anything in the process)</a:t>
            </a:r>
            <a:r>
              <a:rPr lang="en-US" sz="2400" b="1" dirty="0">
                <a:latin typeface="Microsoft Sans Serif"/>
                <a:ea typeface="Microsoft Sans Serif"/>
                <a:cs typeface="Microsoft Sans Serif"/>
              </a:rPr>
              <a:t> </a:t>
            </a:r>
            <a:r>
              <a:rPr lang="en-US" b="1" dirty="0">
                <a:latin typeface="Microsoft Sans Serif"/>
                <a:ea typeface="Microsoft Sans Serif"/>
                <a:cs typeface="Microsoft Sans Serif"/>
              </a:rPr>
              <a:t> 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2084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4ED491-F9D5-BE4E-AFA1-B044567A0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7">
            <a:extLst>
              <a:ext uri="{FF2B5EF4-FFF2-40B4-BE49-F238E27FC236}">
                <a16:creationId xmlns:a16="http://schemas.microsoft.com/office/drawing/2014/main" id="{512E9544-EA8E-B308-E406-3A05DCF4FED4}"/>
              </a:ext>
            </a:extLst>
          </p:cNvPr>
          <p:cNvSpPr txBox="1"/>
          <p:nvPr/>
        </p:nvSpPr>
        <p:spPr>
          <a:xfrm>
            <a:off x="1317" y="133326"/>
            <a:ext cx="4443563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</a:t>
            </a:r>
          </a:p>
          <a:p>
            <a:r>
              <a:rPr lang="en-US" sz="1600" b="1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         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B10E3F1-BFF6-96C0-2B4F-11B96C7FD0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9FE6147-31DA-1813-C12F-1A2705DAA2A3}"/>
              </a:ext>
            </a:extLst>
          </p:cNvPr>
          <p:cNvSpPr txBox="1"/>
          <p:nvPr/>
        </p:nvSpPr>
        <p:spPr>
          <a:xfrm>
            <a:off x="518849" y="1716773"/>
            <a:ext cx="10926415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AutoNum type="arabicPeriod"/>
            </a:pPr>
            <a:r>
              <a:rPr lang="en-US" sz="2800" dirty="0">
                <a:latin typeface="Microsoft Sans Serif"/>
                <a:ea typeface="Microsoft Sans Serif"/>
                <a:cs typeface="Microsoft Sans Serif"/>
              </a:rPr>
              <a:t>You have a GitHub account.</a:t>
            </a:r>
            <a:r>
              <a:rPr lang="en-US" sz="2800" b="1" dirty="0">
                <a:latin typeface="Microsoft Sans Serif"/>
                <a:ea typeface="Microsoft Sans Serif"/>
                <a:cs typeface="Microsoft Sans Serif"/>
              </a:rPr>
              <a:t> </a:t>
            </a:r>
            <a:endParaRPr lang="en-US" sz="2800" dirty="0">
              <a:latin typeface="Microsoft Sans Serif"/>
              <a:ea typeface="Microsoft Sans Serif"/>
              <a:cs typeface="Microsoft Sans Serif"/>
            </a:endParaRPr>
          </a:p>
          <a:p>
            <a:pPr marL="914400" lvl="1" indent="-457200">
              <a:buFont typeface="Courier New"/>
              <a:buChar char="o"/>
            </a:pPr>
            <a:r>
              <a:rPr lang="en-US" sz="2800" dirty="0">
                <a:latin typeface="Microsoft Sans Serif"/>
                <a:ea typeface="Microsoft Sans Serif"/>
                <a:cs typeface="Microsoft Sans Serif"/>
              </a:rPr>
              <a:t>Yes </a:t>
            </a:r>
          </a:p>
          <a:p>
            <a:pPr marL="914400" lvl="1" indent="-457200">
              <a:buFont typeface="Courier New"/>
              <a:buChar char="o"/>
            </a:pPr>
            <a:r>
              <a:rPr lang="en-US" sz="2800" dirty="0">
                <a:latin typeface="Microsoft Sans Serif"/>
                <a:ea typeface="Microsoft Sans Serif"/>
                <a:cs typeface="Microsoft Sans Serif"/>
              </a:rPr>
              <a:t>No            </a:t>
            </a:r>
            <a:r>
              <a:rPr lang="en-US" sz="2800" dirty="0">
                <a:solidFill>
                  <a:schemeClr val="tx2">
                    <a:lumMod val="76000"/>
                    <a:lumOff val="24000"/>
                  </a:schemeClr>
                </a:solidFill>
                <a:latin typeface="Microsoft Sans Serif"/>
                <a:ea typeface="+mn-lt"/>
                <a:cs typeface="+mn-lt"/>
              </a:rPr>
              <a:t>github.com/signup</a:t>
            </a:r>
            <a:r>
              <a:rPr lang="en-US" b="1" dirty="0">
                <a:latin typeface="Microsoft Sans Serif"/>
                <a:ea typeface="Microsoft Sans Serif"/>
                <a:cs typeface="Microsoft Sans Serif"/>
              </a:rPr>
              <a:t> </a:t>
            </a:r>
            <a:endParaRPr lang="en-US" dirty="0">
              <a:latin typeface="Microsoft Sans Serif"/>
              <a:ea typeface="Microsoft Sans Serif"/>
              <a:cs typeface="Microsoft Sans Serif"/>
            </a:endParaRPr>
          </a:p>
        </p:txBody>
      </p:sp>
      <p:pic>
        <p:nvPicPr>
          <p:cNvPr id="4" name="Graphic 3" descr="Checkbox Checked with solid fill">
            <a:extLst>
              <a:ext uri="{FF2B5EF4-FFF2-40B4-BE49-F238E27FC236}">
                <a16:creationId xmlns:a16="http://schemas.microsoft.com/office/drawing/2014/main" id="{39C5A799-E03D-895C-A883-BD219F2106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25758" y="2082801"/>
            <a:ext cx="561009" cy="561009"/>
          </a:xfrm>
          <a:prstGeom prst="rect">
            <a:avLst/>
          </a:prstGeom>
        </p:spPr>
      </p:pic>
      <p:pic>
        <p:nvPicPr>
          <p:cNvPr id="5" name="Graphic 4" descr="Arrow Right with solid fill">
            <a:extLst>
              <a:ext uri="{FF2B5EF4-FFF2-40B4-BE49-F238E27FC236}">
                <a16:creationId xmlns:a16="http://schemas.microsoft.com/office/drawing/2014/main" id="{5F2C9885-86B6-7D6C-108E-D1D1342389B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375451" y="2530061"/>
            <a:ext cx="511314" cy="67144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F36FBEE-1318-5688-CE57-674FBC0CF837}"/>
              </a:ext>
            </a:extLst>
          </p:cNvPr>
          <p:cNvSpPr txBox="1"/>
          <p:nvPr/>
        </p:nvSpPr>
        <p:spPr>
          <a:xfrm>
            <a:off x="634805" y="4510773"/>
            <a:ext cx="10926415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latin typeface="Microsoft Sans Serif"/>
                <a:ea typeface="Microsoft Sans Serif"/>
                <a:cs typeface="Microsoft Sans Serif"/>
              </a:rPr>
              <a:t>2.   You have a git installed.</a:t>
            </a:r>
            <a:r>
              <a:rPr lang="en-US" sz="2800" b="1" dirty="0">
                <a:latin typeface="Microsoft Sans Serif"/>
                <a:ea typeface="Microsoft Sans Serif"/>
                <a:cs typeface="Microsoft Sans Serif"/>
              </a:rPr>
              <a:t> </a:t>
            </a:r>
            <a:endParaRPr lang="en-US" sz="2800" dirty="0">
              <a:latin typeface="Microsoft Sans Serif"/>
              <a:ea typeface="Microsoft Sans Serif"/>
              <a:cs typeface="Microsoft Sans Serif"/>
            </a:endParaRPr>
          </a:p>
          <a:p>
            <a:pPr marL="914400" lvl="1" indent="-457200">
              <a:buFont typeface="Courier New"/>
              <a:buChar char="o"/>
            </a:pPr>
            <a:r>
              <a:rPr lang="en-US" sz="2800" dirty="0">
                <a:latin typeface="Microsoft Sans Serif"/>
                <a:ea typeface="Microsoft Sans Serif"/>
                <a:cs typeface="Microsoft Sans Serif"/>
              </a:rPr>
              <a:t>Yes </a:t>
            </a:r>
          </a:p>
          <a:p>
            <a:pPr marL="914400" lvl="1" indent="-457200">
              <a:buFont typeface="Courier New"/>
              <a:buChar char="o"/>
            </a:pPr>
            <a:r>
              <a:rPr lang="en-US" sz="2800" dirty="0">
                <a:latin typeface="Microsoft Sans Serif"/>
                <a:ea typeface="Microsoft Sans Serif"/>
                <a:cs typeface="Microsoft Sans Serif"/>
              </a:rPr>
              <a:t>No            </a:t>
            </a:r>
            <a:r>
              <a:rPr lang="en-US" sz="2800" dirty="0">
                <a:solidFill>
                  <a:schemeClr val="tx2">
                    <a:lumMod val="76000"/>
                    <a:lumOff val="24000"/>
                  </a:schemeClr>
                </a:solidFill>
                <a:latin typeface="Microsoft Sans Serif"/>
                <a:ea typeface="+mn-lt"/>
                <a:cs typeface="+mn-lt"/>
              </a:rPr>
              <a:t>gist.github.com/</a:t>
            </a:r>
            <a:r>
              <a:rPr lang="en-US" sz="2800" dirty="0" err="1">
                <a:solidFill>
                  <a:schemeClr val="tx2">
                    <a:lumMod val="76000"/>
                    <a:lumOff val="24000"/>
                  </a:schemeClr>
                </a:solidFill>
                <a:latin typeface="Microsoft Sans Serif"/>
                <a:ea typeface="+mn-lt"/>
                <a:cs typeface="+mn-lt"/>
              </a:rPr>
              <a:t>mitchellxh</a:t>
            </a:r>
            <a:r>
              <a:rPr lang="en-US" sz="2800" b="1" dirty="0">
                <a:latin typeface="Microsoft Sans Serif"/>
                <a:ea typeface="Microsoft Sans Serif"/>
                <a:cs typeface="Microsoft Sans Serif"/>
              </a:rPr>
              <a:t> </a:t>
            </a:r>
            <a:endParaRPr lang="en-US" sz="2800" dirty="0">
              <a:latin typeface="Microsoft Sans Serif"/>
              <a:ea typeface="Microsoft Sans Serif"/>
              <a:cs typeface="Microsoft Sans Serif"/>
            </a:endParaRPr>
          </a:p>
        </p:txBody>
      </p:sp>
      <p:pic>
        <p:nvPicPr>
          <p:cNvPr id="7" name="Graphic 6" descr="Checkbox Checked with solid fill">
            <a:extLst>
              <a:ext uri="{FF2B5EF4-FFF2-40B4-BE49-F238E27FC236}">
                <a16:creationId xmlns:a16="http://schemas.microsoft.com/office/drawing/2014/main" id="{28BAE5D1-37BB-3007-0409-2DDA3B26D4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75453" y="4920975"/>
            <a:ext cx="561009" cy="561009"/>
          </a:xfrm>
          <a:prstGeom prst="rect">
            <a:avLst/>
          </a:prstGeom>
        </p:spPr>
      </p:pic>
      <p:pic>
        <p:nvPicPr>
          <p:cNvPr id="8" name="Graphic 7" descr="Arrow Right with solid fill">
            <a:extLst>
              <a:ext uri="{FF2B5EF4-FFF2-40B4-BE49-F238E27FC236}">
                <a16:creationId xmlns:a16="http://schemas.microsoft.com/office/drawing/2014/main" id="{4BD87F0C-EF38-F5E7-DE45-0102C0D37B6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425146" y="5335104"/>
            <a:ext cx="511314" cy="671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615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DA3EA9-CE10-D5DC-5F48-A7A7559C8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7">
            <a:extLst>
              <a:ext uri="{FF2B5EF4-FFF2-40B4-BE49-F238E27FC236}">
                <a16:creationId xmlns:a16="http://schemas.microsoft.com/office/drawing/2014/main" id="{7C6DC905-F9BD-70ED-391D-9971ADBBF8F7}"/>
              </a:ext>
            </a:extLst>
          </p:cNvPr>
          <p:cNvSpPr txBox="1"/>
          <p:nvPr/>
        </p:nvSpPr>
        <p:spPr>
          <a:xfrm>
            <a:off x="1317" y="133326"/>
            <a:ext cx="4443563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</a:t>
            </a:r>
          </a:p>
          <a:p>
            <a:r>
              <a:rPr lang="en-US" sz="1600" b="1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         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CCBE2C6-0B0E-BE55-5582-EC5C893347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D3508A7-443D-D777-A60D-8E3126D18C6C}"/>
              </a:ext>
            </a:extLst>
          </p:cNvPr>
          <p:cNvSpPr txBox="1"/>
          <p:nvPr/>
        </p:nvSpPr>
        <p:spPr>
          <a:xfrm>
            <a:off x="491240" y="1606338"/>
            <a:ext cx="1092641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Microsoft Sans Serif"/>
                <a:ea typeface="Microsoft Sans Serif"/>
                <a:cs typeface="Microsoft Sans Serif"/>
              </a:rPr>
              <a:t> </a:t>
            </a:r>
            <a:endParaRPr lang="en-US" dirty="0">
              <a:latin typeface="Microsoft Sans Serif"/>
              <a:ea typeface="Microsoft Sans Serif"/>
              <a:cs typeface="Microsoft Sans Serif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6AEAC8-1026-2531-5437-4103EB184FE2}"/>
              </a:ext>
            </a:extLst>
          </p:cNvPr>
          <p:cNvSpPr txBox="1"/>
          <p:nvPr/>
        </p:nvSpPr>
        <p:spPr>
          <a:xfrm>
            <a:off x="320068" y="1081773"/>
            <a:ext cx="778454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u="sng" dirty="0">
                <a:latin typeface="Microsoft Sans Serif"/>
                <a:ea typeface="Microsoft Sans Serif"/>
                <a:cs typeface="Microsoft Sans Serif"/>
              </a:rPr>
              <a:t>Step 1: Get the instructions</a:t>
            </a:r>
            <a:endParaRPr lang="en-US" u="sng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E844575-A2C7-E3A5-6CBC-25A37AA2220F}"/>
              </a:ext>
            </a:extLst>
          </p:cNvPr>
          <p:cNvSpPr txBox="1"/>
          <p:nvPr/>
        </p:nvSpPr>
        <p:spPr>
          <a:xfrm>
            <a:off x="408414" y="2302077"/>
            <a:ext cx="11196980" cy="249299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AutoNum type="alphaLcPeriod"/>
            </a:pPr>
            <a:r>
              <a:rPr lang="en-US" sz="2400" dirty="0">
                <a:latin typeface="Microsoft Sans Serif"/>
                <a:ea typeface="Microsoft Sans Serif"/>
                <a:cs typeface="Microsoft Sans Serif"/>
              </a:rPr>
              <a:t>Open your terminal, RStudio, IDE</a:t>
            </a:r>
            <a:endParaRPr lang="en-US" sz="2400" dirty="0">
              <a:latin typeface="Aptos" panose="020B0004020202020204"/>
              <a:ea typeface="Microsoft Sans Serif"/>
              <a:cs typeface="Microsoft Sans Serif"/>
            </a:endParaRPr>
          </a:p>
          <a:p>
            <a:pPr marL="800100" lvl="1" indent="-342900">
              <a:buFont typeface="Arial"/>
              <a:buChar char="•"/>
            </a:pPr>
            <a:r>
              <a:rPr lang="en-US" dirty="0">
                <a:latin typeface="Microsoft Sans Serif"/>
                <a:ea typeface="Microsoft Sans Serif"/>
                <a:cs typeface="Microsoft Sans Serif"/>
              </a:rPr>
              <a:t>This is the software you will use to access the command line</a:t>
            </a:r>
          </a:p>
          <a:p>
            <a:pPr marL="914400" lvl="1" indent="-457200">
              <a:buFont typeface="Arial"/>
              <a:buChar char="•"/>
            </a:pPr>
            <a:endParaRPr lang="en-US" dirty="0">
              <a:latin typeface="Microsoft Sans Serif"/>
              <a:ea typeface="Microsoft Sans Serif"/>
              <a:cs typeface="Microsoft Sans Serif"/>
            </a:endParaRPr>
          </a:p>
          <a:p>
            <a:pPr marL="914400" lvl="1" indent="-457200">
              <a:buFont typeface="Arial"/>
              <a:buChar char="•"/>
            </a:pPr>
            <a:endParaRPr lang="en-US" sz="2400" dirty="0">
              <a:latin typeface="Microsoft Sans Serif"/>
              <a:ea typeface="Microsoft Sans Serif"/>
              <a:cs typeface="Microsoft Sans Serif"/>
            </a:endParaRPr>
          </a:p>
          <a:p>
            <a:pPr marL="457200" indent="-457200">
              <a:buAutoNum type="alphaLcPeriod"/>
            </a:pPr>
            <a:r>
              <a:rPr lang="en-US" sz="2400" dirty="0">
                <a:latin typeface="Microsoft Sans Serif"/>
                <a:ea typeface="Microsoft Sans Serif"/>
                <a:cs typeface="Microsoft Sans Serif"/>
              </a:rPr>
              <a:t>And type the following:</a:t>
            </a:r>
          </a:p>
          <a:p>
            <a:pPr indent="-457200">
              <a:buAutoNum type="alphaLcPeriod"/>
            </a:pPr>
            <a:endParaRPr lang="en-US" sz="2400" dirty="0">
              <a:latin typeface="Microsoft Sans Serif"/>
              <a:ea typeface="Microsoft Sans Serif"/>
              <a:cs typeface="Microsoft Sans Serif"/>
            </a:endParaRPr>
          </a:p>
          <a:p>
            <a:pPr lvl="1"/>
            <a:r>
              <a:rPr lang="en-US" sz="2400" b="1" dirty="0">
                <a:latin typeface="Consolas"/>
                <a:ea typeface="Microsoft Sans Serif"/>
                <a:cs typeface="Microsoft Sans Serif"/>
              </a:rPr>
              <a:t>git clone </a:t>
            </a:r>
            <a:r>
              <a:rPr lang="en-US" sz="2400" b="1" dirty="0">
                <a:latin typeface="Consolas"/>
                <a:ea typeface="+mn-lt"/>
                <a:cs typeface="+mn-lt"/>
              </a:rPr>
              <a:t>https://github.com/mitchellxh/test-page.git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E35520-C906-71F9-DC2D-8319A1D8107B}"/>
              </a:ext>
            </a:extLst>
          </p:cNvPr>
          <p:cNvSpPr txBox="1"/>
          <p:nvPr/>
        </p:nvSpPr>
        <p:spPr>
          <a:xfrm>
            <a:off x="0" y="6211957"/>
            <a:ext cx="1124778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1" baseline="0">
                <a:solidFill>
                  <a:srgbClr val="002060"/>
                </a:solidFill>
                <a:latin typeface="Microsoft Sans Serif"/>
              </a:rPr>
              <a:t>command line interface </a:t>
            </a:r>
            <a:r>
              <a:rPr lang="en-US" sz="1800" baseline="0">
                <a:solidFill>
                  <a:srgbClr val="002060"/>
                </a:solidFill>
                <a:latin typeface="Microsoft Sans Serif"/>
              </a:rPr>
              <a:t>(CLI): </a:t>
            </a:r>
            <a:r>
              <a:rPr lang="en-US" sz="1800" baseline="0">
                <a:latin typeface="Microsoft Sans Serif"/>
              </a:rPr>
              <a:t> a text-based interface to interact with a computer's operating system</a:t>
            </a:r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4467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C95B38-2F33-4C24-A7F3-1F3ADF3F3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7">
            <a:extLst>
              <a:ext uri="{FF2B5EF4-FFF2-40B4-BE49-F238E27FC236}">
                <a16:creationId xmlns:a16="http://schemas.microsoft.com/office/drawing/2014/main" id="{23943487-8508-B91F-8AA7-228BE8AEC925}"/>
              </a:ext>
            </a:extLst>
          </p:cNvPr>
          <p:cNvSpPr txBox="1"/>
          <p:nvPr/>
        </p:nvSpPr>
        <p:spPr>
          <a:xfrm>
            <a:off x="1317" y="133326"/>
            <a:ext cx="4443563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</a:t>
            </a:r>
          </a:p>
          <a:p>
            <a:r>
              <a:rPr lang="en-US" sz="1600" b="1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         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7B671F8-02FE-91F3-0C88-A047521284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4C2CC8B-B69B-67B3-F529-7D4BD05432B6}"/>
              </a:ext>
            </a:extLst>
          </p:cNvPr>
          <p:cNvSpPr txBox="1"/>
          <p:nvPr/>
        </p:nvSpPr>
        <p:spPr>
          <a:xfrm>
            <a:off x="491240" y="1606338"/>
            <a:ext cx="1092641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Microsoft Sans Serif"/>
                <a:ea typeface="Microsoft Sans Serif"/>
                <a:cs typeface="Microsoft Sans Serif"/>
              </a:rPr>
              <a:t> </a:t>
            </a:r>
            <a:endParaRPr lang="en-US" dirty="0">
              <a:latin typeface="Microsoft Sans Serif"/>
              <a:ea typeface="Microsoft Sans Serif"/>
              <a:cs typeface="Microsoft Sans Serif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A68FB4-320E-4ECE-76B8-589F8B46BE59}"/>
              </a:ext>
            </a:extLst>
          </p:cNvPr>
          <p:cNvSpPr txBox="1"/>
          <p:nvPr/>
        </p:nvSpPr>
        <p:spPr>
          <a:xfrm>
            <a:off x="320068" y="1081773"/>
            <a:ext cx="778454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u="sng" dirty="0">
                <a:latin typeface="Microsoft Sans Serif"/>
                <a:ea typeface="Microsoft Sans Serif"/>
                <a:cs typeface="Microsoft Sans Serif"/>
              </a:rPr>
              <a:t>Step 2: Open the instructions</a:t>
            </a:r>
            <a:endParaRPr lang="en-US" u="sng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EBC53F-B2D0-2A9F-EA3B-B96833FA52D6}"/>
              </a:ext>
            </a:extLst>
          </p:cNvPr>
          <p:cNvSpPr txBox="1"/>
          <p:nvPr/>
        </p:nvSpPr>
        <p:spPr>
          <a:xfrm>
            <a:off x="408414" y="2302077"/>
            <a:ext cx="11196980" cy="22159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AutoNum type="alphaLcPeriod"/>
            </a:pPr>
            <a:r>
              <a:rPr lang="en-US" sz="2400" dirty="0">
                <a:latin typeface="Microsoft Sans Serif"/>
                <a:ea typeface="Microsoft Sans Serif"/>
                <a:cs typeface="Microsoft Sans Serif"/>
              </a:rPr>
              <a:t>Open your file browser and open the file:</a:t>
            </a:r>
            <a:endParaRPr lang="en-US" sz="2400" dirty="0">
              <a:latin typeface="Aptos" panose="020B0004020202020204"/>
              <a:ea typeface="Microsoft Sans Serif"/>
              <a:cs typeface="Microsoft Sans Serif"/>
            </a:endParaRPr>
          </a:p>
          <a:p>
            <a:pPr lvl="1"/>
            <a:r>
              <a:rPr lang="en-US" sz="2400" b="1" dirty="0">
                <a:latin typeface="Consolas"/>
                <a:ea typeface="Microsoft Sans Serif"/>
                <a:cs typeface="Microsoft Sans Serif"/>
              </a:rPr>
              <a:t> </a:t>
            </a:r>
          </a:p>
          <a:p>
            <a:pPr lvl="1"/>
            <a:r>
              <a:rPr lang="en-US" sz="2400" b="1" dirty="0">
                <a:latin typeface="Consolas"/>
                <a:ea typeface="Microsoft Sans Serif"/>
                <a:cs typeface="Microsoft Sans Serif"/>
              </a:rPr>
              <a:t>instructions.md</a:t>
            </a:r>
            <a:endParaRPr lang="en-US" dirty="0"/>
          </a:p>
          <a:p>
            <a:pPr marL="914400" lvl="1" indent="-457200">
              <a:buFont typeface="Arial"/>
              <a:buChar char="•"/>
            </a:pPr>
            <a:endParaRPr lang="en-US" dirty="0">
              <a:latin typeface="Microsoft Sans Serif"/>
              <a:ea typeface="Microsoft Sans Serif"/>
              <a:cs typeface="Microsoft Sans Serif"/>
            </a:endParaRPr>
          </a:p>
          <a:p>
            <a:pPr marL="914400" lvl="1" indent="-457200">
              <a:buFont typeface="Arial"/>
              <a:buChar char="•"/>
            </a:pPr>
            <a:endParaRPr lang="en-US" sz="2400" dirty="0">
              <a:latin typeface="Microsoft Sans Serif"/>
              <a:ea typeface="Microsoft Sans Serif"/>
              <a:cs typeface="Microsoft Sans Serif"/>
            </a:endParaRPr>
          </a:p>
          <a:p>
            <a:pPr marL="457200" indent="-457200">
              <a:buAutoNum type="alphaLcPeriod"/>
            </a:pPr>
            <a:r>
              <a:rPr lang="en-US" sz="2400" dirty="0">
                <a:latin typeface="Microsoft Sans Serif"/>
                <a:ea typeface="Microsoft Sans Serif"/>
                <a:cs typeface="Microsoft Sans Serif"/>
              </a:rPr>
              <a:t>If you are comfortable, you can open in any text editor you like!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3FAA33-95F9-5C3B-72A3-7F606246E8E1}"/>
              </a:ext>
            </a:extLst>
          </p:cNvPr>
          <p:cNvSpPr txBox="1"/>
          <p:nvPr/>
        </p:nvSpPr>
        <p:spPr>
          <a:xfrm>
            <a:off x="0" y="6211957"/>
            <a:ext cx="1124778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solidFill>
                  <a:srgbClr val="002060"/>
                </a:solidFill>
                <a:latin typeface="Microsoft Sans Serif"/>
              </a:rPr>
              <a:t>.md</a:t>
            </a:r>
            <a:r>
              <a:rPr lang="en-US" sz="1800" b="1" baseline="0" dirty="0">
                <a:solidFill>
                  <a:srgbClr val="002060"/>
                </a:solidFill>
                <a:latin typeface="Microsoft Sans Serif"/>
              </a:rPr>
              <a:t> </a:t>
            </a:r>
            <a:r>
              <a:rPr lang="en-US" dirty="0">
                <a:solidFill>
                  <a:srgbClr val="002060"/>
                </a:solidFill>
                <a:latin typeface="Microsoft Sans Serif"/>
              </a:rPr>
              <a:t>:</a:t>
            </a:r>
            <a:r>
              <a:rPr lang="en-US" sz="1800" baseline="0" dirty="0">
                <a:solidFill>
                  <a:srgbClr val="002060"/>
                </a:solidFill>
                <a:latin typeface="Microsoft Sans Serif"/>
              </a:rPr>
              <a:t> </a:t>
            </a:r>
            <a:r>
              <a:rPr lang="en-US" sz="1800" baseline="0" dirty="0">
                <a:latin typeface="Microsoft Sans Serif"/>
              </a:rPr>
              <a:t> </a:t>
            </a:r>
            <a:r>
              <a:rPr lang="en-US" dirty="0">
                <a:latin typeface="Microsoft Sans Serif"/>
              </a:rPr>
              <a:t>Is a plain text format called Markdown. It is a commonly used for created formatted documents. </a:t>
            </a:r>
            <a:endParaRPr lang="en-US" dirty="0">
              <a:latin typeface="Microsoft Sans Serif"/>
              <a:ea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13413172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16AACD-8B24-8769-EAEB-461685088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7">
            <a:extLst>
              <a:ext uri="{FF2B5EF4-FFF2-40B4-BE49-F238E27FC236}">
                <a16:creationId xmlns:a16="http://schemas.microsoft.com/office/drawing/2014/main" id="{7174E3C0-D158-DBFB-CE73-B3BE3E4DC143}"/>
              </a:ext>
            </a:extLst>
          </p:cNvPr>
          <p:cNvSpPr txBox="1"/>
          <p:nvPr/>
        </p:nvSpPr>
        <p:spPr>
          <a:xfrm>
            <a:off x="1317" y="133326"/>
            <a:ext cx="4443563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</a:t>
            </a:r>
          </a:p>
          <a:p>
            <a:r>
              <a:rPr lang="en-US" sz="1600" b="1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         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F7101FA-0A6A-6EE9-28BC-981E377A21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5D76436-04BF-9265-D22A-9DBC185EB498}"/>
              </a:ext>
            </a:extLst>
          </p:cNvPr>
          <p:cNvSpPr txBox="1"/>
          <p:nvPr/>
        </p:nvSpPr>
        <p:spPr>
          <a:xfrm>
            <a:off x="491240" y="1606338"/>
            <a:ext cx="10926415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5400" b="1" dirty="0">
                <a:latin typeface="Microsoft Sans Serif"/>
                <a:ea typeface="Microsoft Sans Serif"/>
                <a:cs typeface="Microsoft Sans Serif"/>
              </a:rPr>
              <a:t> </a:t>
            </a:r>
            <a:endParaRPr lang="en-US" sz="5400" dirty="0">
              <a:latin typeface="Microsoft Sans Serif"/>
              <a:ea typeface="Microsoft Sans Serif"/>
              <a:cs typeface="Microsoft Sans Serif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560604-AB77-B279-8DA0-2FDB1A845270}"/>
              </a:ext>
            </a:extLst>
          </p:cNvPr>
          <p:cNvSpPr txBox="1"/>
          <p:nvPr/>
        </p:nvSpPr>
        <p:spPr>
          <a:xfrm>
            <a:off x="3550478" y="2882348"/>
            <a:ext cx="1341783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5400" b="1" dirty="0">
                <a:latin typeface="Microsoft Sans Serif"/>
                <a:ea typeface="Microsoft Sans Serif"/>
                <a:cs typeface="Microsoft Sans Serif"/>
              </a:rPr>
              <a:t>git</a:t>
            </a:r>
            <a:endParaRPr lang="en-US" sz="5400" dirty="0">
              <a:latin typeface="Microsoft Sans Serif"/>
              <a:ea typeface="Microsoft Sans Serif"/>
              <a:cs typeface="Microsoft Sans Serif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1B545D-1F33-5DC0-CC72-F875DF22B325}"/>
              </a:ext>
            </a:extLst>
          </p:cNvPr>
          <p:cNvSpPr txBox="1"/>
          <p:nvPr/>
        </p:nvSpPr>
        <p:spPr>
          <a:xfrm>
            <a:off x="7123043" y="2882349"/>
            <a:ext cx="4295913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5400" b="1" spc="0" dirty="0">
                <a:latin typeface="Microsoft Sans Serif"/>
                <a:ea typeface="Microsoft Sans Serif"/>
                <a:cs typeface="Microsoft Sans Serif"/>
              </a:rPr>
              <a:t>GitHub</a:t>
            </a:r>
            <a:endParaRPr lang="en-US" sz="5400" dirty="0">
              <a:latin typeface="Microsoft Sans Serif"/>
              <a:ea typeface="Microsoft Sans Serif"/>
              <a:cs typeface="Microsoft Sans Serif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3A9EC6-D8C4-4494-D47C-4C785AE15CEF}"/>
              </a:ext>
            </a:extLst>
          </p:cNvPr>
          <p:cNvSpPr txBox="1"/>
          <p:nvPr/>
        </p:nvSpPr>
        <p:spPr>
          <a:xfrm>
            <a:off x="5654261" y="2965174"/>
            <a:ext cx="44174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5400" baseline="0" dirty="0">
                <a:solidFill>
                  <a:srgbClr val="FF0000"/>
                </a:solidFill>
                <a:latin typeface="Microsoft Sans Serif"/>
                <a:ea typeface="Microsoft Sans Serif"/>
                <a:cs typeface="Microsoft Sans Serif"/>
              </a:rPr>
              <a:t>≠</a:t>
            </a:r>
            <a:endParaRPr lang="en-US" sz="5400" dirty="0">
              <a:solidFill>
                <a:srgbClr val="FF0000"/>
              </a:solidFill>
              <a:latin typeface="Microsoft Sans Serif"/>
              <a:ea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5296540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B0A127-936B-5223-D81E-193F0A399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7">
            <a:extLst>
              <a:ext uri="{FF2B5EF4-FFF2-40B4-BE49-F238E27FC236}">
                <a16:creationId xmlns:a16="http://schemas.microsoft.com/office/drawing/2014/main" id="{674C25B2-9474-9622-73C0-DFD0F3877C6C}"/>
              </a:ext>
            </a:extLst>
          </p:cNvPr>
          <p:cNvSpPr txBox="1"/>
          <p:nvPr/>
        </p:nvSpPr>
        <p:spPr>
          <a:xfrm>
            <a:off x="1317" y="133326"/>
            <a:ext cx="4443563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</a:t>
            </a:r>
          </a:p>
          <a:p>
            <a:r>
              <a:rPr lang="en-US" sz="1600" b="1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         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615DE03-1CB8-3798-C429-26049D689C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E897196-40D4-FF68-BBA8-8CFC48EA8D3B}"/>
              </a:ext>
            </a:extLst>
          </p:cNvPr>
          <p:cNvSpPr txBox="1"/>
          <p:nvPr/>
        </p:nvSpPr>
        <p:spPr>
          <a:xfrm>
            <a:off x="491240" y="1606338"/>
            <a:ext cx="1092641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Microsoft Sans Serif"/>
                <a:ea typeface="Microsoft Sans Serif"/>
                <a:cs typeface="Microsoft Sans Serif"/>
              </a:rPr>
              <a:t> </a:t>
            </a:r>
            <a:endParaRPr lang="en-US" dirty="0">
              <a:latin typeface="Microsoft Sans Serif"/>
              <a:ea typeface="Microsoft Sans Serif"/>
              <a:cs typeface="Microsoft Sans Serif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BFB9C3-4907-78F4-0E5A-0827A944C785}"/>
              </a:ext>
            </a:extLst>
          </p:cNvPr>
          <p:cNvSpPr txBox="1"/>
          <p:nvPr/>
        </p:nvSpPr>
        <p:spPr>
          <a:xfrm>
            <a:off x="491435" y="1452217"/>
            <a:ext cx="69021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git</a:t>
            </a:r>
            <a:endParaRPr lang="en-US" dirty="0">
              <a:cs typeface="Segoe U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FB4BC3-68DD-760C-3275-A06EB0820BF7}"/>
              </a:ext>
            </a:extLst>
          </p:cNvPr>
          <p:cNvSpPr txBox="1"/>
          <p:nvPr/>
        </p:nvSpPr>
        <p:spPr>
          <a:xfrm>
            <a:off x="1258956" y="1976782"/>
            <a:ext cx="9105347" cy="18466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83540" indent="-365760">
              <a:buFont typeface=""/>
              <a:buChar char="•"/>
            </a:pPr>
            <a:r>
              <a:rPr lang="en-US" sz="2400" u="sng" dirty="0">
                <a:solidFill>
                  <a:srgbClr val="000000"/>
                </a:solidFill>
                <a:latin typeface="Microsoft Sans Serif"/>
                <a:ea typeface="Arial"/>
                <a:cs typeface="Arial"/>
              </a:rPr>
              <a:t>THE SOFTWARE</a:t>
            </a:r>
            <a:endParaRPr lang="en-US" u="sng" dirty="0"/>
          </a:p>
          <a:p>
            <a:pPr marL="840740" lvl="1" indent="-365760">
              <a:buFont typeface="Courier New"/>
              <a:buChar char="o"/>
            </a:pPr>
            <a:r>
              <a:rPr lang="en-US" sz="2400" dirty="0">
                <a:solidFill>
                  <a:srgbClr val="000000"/>
                </a:solidFill>
                <a:latin typeface="Microsoft Sans Serif"/>
                <a:ea typeface="Arial"/>
                <a:cs typeface="Arial"/>
              </a:rPr>
              <a:t>Installed</a:t>
            </a:r>
            <a:r>
              <a:rPr lang="en-US" sz="2400" kern="1200" dirty="0">
                <a:solidFill>
                  <a:srgbClr val="000000"/>
                </a:solidFill>
                <a:latin typeface="Microsoft Sans Serif"/>
                <a:ea typeface="Arial"/>
                <a:cs typeface="Arial"/>
              </a:rPr>
              <a:t> and used on your local machine</a:t>
            </a:r>
            <a:endParaRPr lang="en-US"/>
          </a:p>
          <a:p>
            <a:pPr marL="840740" lvl="1" indent="-365760">
              <a:buFont typeface="Courier New"/>
              <a:buChar char="o"/>
            </a:pPr>
            <a:r>
              <a:rPr lang="en-US" sz="2400" dirty="0">
                <a:solidFill>
                  <a:srgbClr val="000000"/>
                </a:solidFill>
                <a:latin typeface="Microsoft Sans Serif"/>
                <a:ea typeface="Arial"/>
                <a:cs typeface="Arial"/>
              </a:rPr>
              <a:t>fast and simple</a:t>
            </a:r>
            <a:r>
              <a:rPr lang="en-US" sz="2000" b="1" dirty="0">
                <a:solidFill>
                  <a:schemeClr val="accent6">
                    <a:lumMod val="49000"/>
                  </a:schemeClr>
                </a:solidFill>
                <a:latin typeface="Microsoft Sans Serif"/>
                <a:ea typeface="Arial"/>
                <a:cs typeface="Arial"/>
              </a:rPr>
              <a:t>-ish</a:t>
            </a:r>
            <a:endParaRPr lang="en-US" sz="2000" b="1" kern="1200" dirty="0">
              <a:solidFill>
                <a:schemeClr val="accent6">
                  <a:lumMod val="49000"/>
                </a:schemeClr>
              </a:solidFill>
              <a:latin typeface="Microsoft Sans Serif"/>
              <a:ea typeface="Arial"/>
              <a:cs typeface="Arial"/>
            </a:endParaRPr>
          </a:p>
          <a:p>
            <a:pPr marL="840740" lvl="1" indent="-365760" algn="l" rtl="0">
              <a:buFont typeface="Courier New"/>
              <a:buChar char="o"/>
            </a:pPr>
            <a:r>
              <a:rPr lang="en-US" sz="2400" dirty="0">
                <a:ea typeface="+mn-lt"/>
                <a:cs typeface="+mn-lt"/>
                <a:hlinkClick r:id="rId4"/>
              </a:rPr>
              <a:t>https://git-scm.com/</a:t>
            </a:r>
            <a:endParaRPr lang="en-US" sz="2400" dirty="0">
              <a:latin typeface="Microsoft Sans Serif"/>
              <a:cs typeface="Arial"/>
            </a:endParaRPr>
          </a:p>
          <a:p>
            <a:pPr algn="ctr"/>
            <a:endParaRPr lang="en-US"/>
          </a:p>
        </p:txBody>
      </p:sp>
      <p:pic>
        <p:nvPicPr>
          <p:cNvPr id="4" name="Picture 3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6EE1C7F0-66E2-DC7A-A387-08F8D181A4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68" y="4418634"/>
            <a:ext cx="9248775" cy="188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054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ECBD16-87E2-DDA7-A89B-506AE49D4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7">
            <a:extLst>
              <a:ext uri="{FF2B5EF4-FFF2-40B4-BE49-F238E27FC236}">
                <a16:creationId xmlns:a16="http://schemas.microsoft.com/office/drawing/2014/main" id="{AEB47B3E-ADA3-5714-8302-E323E07BF3E7}"/>
              </a:ext>
            </a:extLst>
          </p:cNvPr>
          <p:cNvSpPr txBox="1"/>
          <p:nvPr/>
        </p:nvSpPr>
        <p:spPr>
          <a:xfrm>
            <a:off x="1317" y="133326"/>
            <a:ext cx="4443563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</a:t>
            </a:r>
          </a:p>
          <a:p>
            <a:r>
              <a:rPr lang="en-US" sz="1600" b="1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         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F5C73E5-F1F7-AFD2-851E-BF85E4728E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425D121-C3AD-E379-72AB-B58F96C54C12}"/>
              </a:ext>
            </a:extLst>
          </p:cNvPr>
          <p:cNvSpPr txBox="1"/>
          <p:nvPr/>
        </p:nvSpPr>
        <p:spPr>
          <a:xfrm>
            <a:off x="491240" y="1606338"/>
            <a:ext cx="1092641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Microsoft Sans Serif"/>
                <a:ea typeface="Microsoft Sans Serif"/>
                <a:cs typeface="Microsoft Sans Serif"/>
              </a:rPr>
              <a:t> </a:t>
            </a:r>
            <a:endParaRPr lang="en-US" dirty="0">
              <a:latin typeface="Microsoft Sans Serif"/>
              <a:ea typeface="Microsoft Sans Serif"/>
              <a:cs typeface="Microsoft Sans Serif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59BFA1-E0F9-4FB6-8723-5C56BBA25C49}"/>
              </a:ext>
            </a:extLst>
          </p:cNvPr>
          <p:cNvSpPr txBox="1"/>
          <p:nvPr/>
        </p:nvSpPr>
        <p:spPr>
          <a:xfrm>
            <a:off x="491435" y="1452217"/>
            <a:ext cx="152400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Segoe UI"/>
                <a:cs typeface="Segoe UI"/>
              </a:rPr>
              <a:t>GitHub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DFCD10-DEC5-8CC1-67D4-434675F0A037}"/>
              </a:ext>
            </a:extLst>
          </p:cNvPr>
          <p:cNvSpPr txBox="1"/>
          <p:nvPr/>
        </p:nvSpPr>
        <p:spPr>
          <a:xfrm>
            <a:off x="1258956" y="1976782"/>
            <a:ext cx="9105347" cy="22159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83540" indent="-365760">
              <a:buFont typeface=""/>
              <a:buChar char="•"/>
            </a:pPr>
            <a:r>
              <a:rPr lang="en-US" sz="2400" u="sng" dirty="0">
                <a:solidFill>
                  <a:srgbClr val="000000"/>
                </a:solidFill>
                <a:latin typeface="Microsoft Sans Serif"/>
                <a:ea typeface="Arial"/>
                <a:cs typeface="Arial"/>
              </a:rPr>
              <a:t>THE CLOUD</a:t>
            </a:r>
            <a:endParaRPr lang="en-US" u="sng" dirty="0"/>
          </a:p>
          <a:p>
            <a:pPr marL="840740" lvl="1" indent="-365760">
              <a:buFont typeface="Courier New"/>
              <a:buChar char="o"/>
            </a:pPr>
            <a:r>
              <a:rPr lang="en-US" sz="2400" dirty="0">
                <a:solidFill>
                  <a:srgbClr val="000000"/>
                </a:solidFill>
                <a:latin typeface="Microsoft Sans Serif"/>
                <a:cs typeface="Arial"/>
              </a:rPr>
              <a:t>Remote place you store and share your work</a:t>
            </a:r>
            <a:endParaRPr lang="en-US" dirty="0"/>
          </a:p>
          <a:p>
            <a:pPr marL="840740" lvl="1" indent="-365760">
              <a:buFont typeface="Courier New"/>
              <a:buChar char="o"/>
            </a:pPr>
            <a:r>
              <a:rPr lang="en-US" sz="2400" dirty="0">
                <a:latin typeface="Microsoft Sans Serif"/>
                <a:ea typeface="Microsoft Sans Serif"/>
                <a:cs typeface="Arial"/>
              </a:rPr>
              <a:t>Owned by Microsoft</a:t>
            </a:r>
          </a:p>
          <a:p>
            <a:pPr marL="840740" lvl="1" indent="-365760">
              <a:buFont typeface="Courier New"/>
              <a:buChar char="o"/>
            </a:pPr>
            <a:r>
              <a:rPr lang="en-US" sz="2400" dirty="0">
                <a:latin typeface="Microsoft Sans Serif"/>
                <a:ea typeface="Microsoft Sans Serif"/>
                <a:cs typeface="Arial"/>
              </a:rPr>
              <a:t>Expansive and </a:t>
            </a:r>
            <a:r>
              <a:rPr lang="en-US" sz="2400" b="1" dirty="0">
                <a:solidFill>
                  <a:srgbClr val="C00000"/>
                </a:solidFill>
                <a:latin typeface="Microsoft Sans Serif"/>
                <a:ea typeface="Microsoft Sans Serif"/>
                <a:cs typeface="Arial"/>
              </a:rPr>
              <a:t>difficult</a:t>
            </a:r>
          </a:p>
          <a:p>
            <a:pPr marL="840740" lvl="1" indent="-365760">
              <a:buFont typeface="Courier New"/>
              <a:buChar char="o"/>
            </a:pPr>
            <a:r>
              <a:rPr lang="en-US" sz="2400" dirty="0">
                <a:ea typeface="+mn-lt"/>
                <a:cs typeface="+mn-lt"/>
                <a:hlinkClick r:id="rId4"/>
              </a:rPr>
              <a:t>https://github.com/</a:t>
            </a:r>
            <a:endParaRPr lang="en-US" sz="2400" dirty="0">
              <a:latin typeface="Microsoft Sans Serif"/>
              <a:cs typeface="Arial"/>
            </a:endParaRPr>
          </a:p>
          <a:p>
            <a:pPr algn="ctr"/>
            <a:endParaRPr lang="en-US"/>
          </a:p>
        </p:txBody>
      </p:sp>
      <p:pic>
        <p:nvPicPr>
          <p:cNvPr id="6" name="Picture 5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67206AAF-0924-53D6-0F2C-43A13B424C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5601" y="4634258"/>
            <a:ext cx="6112841" cy="1686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207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D579B3-2C32-92E3-7D65-96614D259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7">
            <a:extLst>
              <a:ext uri="{FF2B5EF4-FFF2-40B4-BE49-F238E27FC236}">
                <a16:creationId xmlns:a16="http://schemas.microsoft.com/office/drawing/2014/main" id="{BA22A9C0-A954-3C48-DFD8-BA3DA2EE2631}"/>
              </a:ext>
            </a:extLst>
          </p:cNvPr>
          <p:cNvSpPr txBox="1"/>
          <p:nvPr/>
        </p:nvSpPr>
        <p:spPr>
          <a:xfrm>
            <a:off x="1317" y="133326"/>
            <a:ext cx="4443563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</a:t>
            </a:r>
          </a:p>
          <a:p>
            <a:r>
              <a:rPr lang="en-US" sz="1600" b="1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         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EB9BEDB-ADF0-FA43-BD0F-1347CFDCD6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D69C656-E437-48D5-F1BA-E24077CF700F}"/>
              </a:ext>
            </a:extLst>
          </p:cNvPr>
          <p:cNvSpPr txBox="1"/>
          <p:nvPr/>
        </p:nvSpPr>
        <p:spPr>
          <a:xfrm>
            <a:off x="491240" y="1606338"/>
            <a:ext cx="1092641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Microsoft Sans Serif"/>
                <a:ea typeface="Microsoft Sans Serif"/>
                <a:cs typeface="Microsoft Sans Serif"/>
              </a:rPr>
              <a:t> </a:t>
            </a:r>
            <a:endParaRPr lang="en-US" dirty="0">
              <a:latin typeface="Microsoft Sans Serif"/>
              <a:ea typeface="Microsoft Sans Serif"/>
              <a:cs typeface="Microsoft Sans Serif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C0AB87-8D1F-FEFF-4A0F-44438F11E0E7}"/>
              </a:ext>
            </a:extLst>
          </p:cNvPr>
          <p:cNvSpPr txBox="1"/>
          <p:nvPr/>
        </p:nvSpPr>
        <p:spPr>
          <a:xfrm>
            <a:off x="320068" y="1081773"/>
            <a:ext cx="778454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u="sng" dirty="0">
                <a:latin typeface="Microsoft Sans Serif"/>
                <a:ea typeface="Microsoft Sans Serif"/>
                <a:cs typeface="Microsoft Sans Serif"/>
              </a:rPr>
              <a:t>Version Control</a:t>
            </a:r>
            <a:endParaRPr lang="en-US" dirty="0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0060425-D43B-C635-B3AB-EC375EC9A7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609" y="1604542"/>
            <a:ext cx="11087653" cy="4775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9578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D554A3-93C6-E372-11F3-DFB46A76E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7">
            <a:extLst>
              <a:ext uri="{FF2B5EF4-FFF2-40B4-BE49-F238E27FC236}">
                <a16:creationId xmlns:a16="http://schemas.microsoft.com/office/drawing/2014/main" id="{6419D0DB-98D9-C71F-F463-AA4227ACEE44}"/>
              </a:ext>
            </a:extLst>
          </p:cNvPr>
          <p:cNvSpPr txBox="1"/>
          <p:nvPr/>
        </p:nvSpPr>
        <p:spPr>
          <a:xfrm>
            <a:off x="1317" y="133326"/>
            <a:ext cx="4443563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</a:t>
            </a:r>
          </a:p>
          <a:p>
            <a:r>
              <a:rPr lang="en-US" sz="1600" b="1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         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594C622-3568-6043-A621-9A4B13F926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4DE8CB5-CD01-6A7E-6709-CBCB8913A440}"/>
              </a:ext>
            </a:extLst>
          </p:cNvPr>
          <p:cNvSpPr txBox="1"/>
          <p:nvPr/>
        </p:nvSpPr>
        <p:spPr>
          <a:xfrm>
            <a:off x="491240" y="1606338"/>
            <a:ext cx="1092641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Microsoft Sans Serif"/>
                <a:ea typeface="Microsoft Sans Serif"/>
                <a:cs typeface="Microsoft Sans Serif"/>
              </a:rPr>
              <a:t> </a:t>
            </a:r>
            <a:endParaRPr lang="en-US" dirty="0">
              <a:latin typeface="Microsoft Sans Serif"/>
              <a:ea typeface="Microsoft Sans Serif"/>
              <a:cs typeface="Microsoft Sans Serif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DF70E6-A8DC-35E7-990D-9AF973C20187}"/>
              </a:ext>
            </a:extLst>
          </p:cNvPr>
          <p:cNvSpPr txBox="1"/>
          <p:nvPr/>
        </p:nvSpPr>
        <p:spPr>
          <a:xfrm>
            <a:off x="320068" y="1081773"/>
            <a:ext cx="778454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u="sng" dirty="0">
                <a:latin typeface="Microsoft Sans Serif"/>
                <a:ea typeface="Microsoft Sans Serif"/>
                <a:cs typeface="Microsoft Sans Serif"/>
              </a:rPr>
              <a:t>Version Control</a:t>
            </a:r>
            <a:endParaRPr lang="en-US" dirty="0"/>
          </a:p>
        </p:txBody>
      </p:sp>
      <p:pic>
        <p:nvPicPr>
          <p:cNvPr id="4" name="Picture 3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F25280EC-E01E-7F02-69BF-2B31E3FFD2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3896" y="44174"/>
            <a:ext cx="5098774" cy="6758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8312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FCD0DE-6E87-02C6-B226-7B869962C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7">
            <a:extLst>
              <a:ext uri="{FF2B5EF4-FFF2-40B4-BE49-F238E27FC236}">
                <a16:creationId xmlns:a16="http://schemas.microsoft.com/office/drawing/2014/main" id="{E1858BC8-ABA3-BEEE-9F50-6266E1B39218}"/>
              </a:ext>
            </a:extLst>
          </p:cNvPr>
          <p:cNvSpPr txBox="1"/>
          <p:nvPr/>
        </p:nvSpPr>
        <p:spPr>
          <a:xfrm>
            <a:off x="1317" y="133326"/>
            <a:ext cx="4443563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</a:t>
            </a:r>
          </a:p>
          <a:p>
            <a:r>
              <a:rPr lang="en-US" sz="1600" b="1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         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C707C09-1356-95A2-7655-04487254B3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DD62200-4596-0B04-B6F3-C1F56743578F}"/>
              </a:ext>
            </a:extLst>
          </p:cNvPr>
          <p:cNvSpPr txBox="1"/>
          <p:nvPr/>
        </p:nvSpPr>
        <p:spPr>
          <a:xfrm>
            <a:off x="491240" y="1606338"/>
            <a:ext cx="1092641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Microsoft Sans Serif"/>
                <a:ea typeface="Microsoft Sans Serif"/>
                <a:cs typeface="Microsoft Sans Serif"/>
              </a:rPr>
              <a:t> </a:t>
            </a:r>
            <a:endParaRPr lang="en-US" dirty="0">
              <a:latin typeface="Microsoft Sans Serif"/>
              <a:ea typeface="Microsoft Sans Serif"/>
              <a:cs typeface="Microsoft Sans Serif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D083F0-860E-D226-6BE4-FEAF1C2DCD58}"/>
              </a:ext>
            </a:extLst>
          </p:cNvPr>
          <p:cNvSpPr txBox="1"/>
          <p:nvPr/>
        </p:nvSpPr>
        <p:spPr>
          <a:xfrm>
            <a:off x="320068" y="1081773"/>
            <a:ext cx="778454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u="sng" dirty="0">
                <a:latin typeface="Microsoft Sans Serif"/>
                <a:ea typeface="Microsoft Sans Serif"/>
                <a:cs typeface="Microsoft Sans Serif"/>
              </a:rPr>
              <a:t>Terms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2AA30E-CEB0-C691-0094-AFC41ABB702C}"/>
              </a:ext>
            </a:extLst>
          </p:cNvPr>
          <p:cNvSpPr txBox="1"/>
          <p:nvPr/>
        </p:nvSpPr>
        <p:spPr>
          <a:xfrm>
            <a:off x="320261" y="1606827"/>
            <a:ext cx="11247782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002060"/>
                </a:solidFill>
                <a:latin typeface="Microsoft Sans Serif"/>
              </a:rPr>
              <a:t>directory:</a:t>
            </a:r>
            <a:r>
              <a:rPr lang="en-US" sz="1800" baseline="0" dirty="0">
                <a:solidFill>
                  <a:srgbClr val="002060"/>
                </a:solidFill>
                <a:latin typeface="Microsoft Sans Serif"/>
              </a:rPr>
              <a:t> </a:t>
            </a:r>
            <a:r>
              <a:rPr lang="en-US" dirty="0">
                <a:latin typeface="Microsoft Sans Serif"/>
              </a:rPr>
              <a:t> </a:t>
            </a:r>
            <a:r>
              <a:rPr lang="en-US" sz="1800" baseline="0" dirty="0">
                <a:latin typeface="Microsoft Sans Serif"/>
              </a:rPr>
              <a:t> </a:t>
            </a:r>
            <a:r>
              <a:rPr lang="en-US" dirty="0">
                <a:latin typeface="Microsoft Sans Serif"/>
              </a:rPr>
              <a:t>a folder containing files</a:t>
            </a:r>
          </a:p>
          <a:p>
            <a:r>
              <a:rPr lang="en-US" dirty="0">
                <a:solidFill>
                  <a:srgbClr val="002060"/>
                </a:solidFill>
                <a:latin typeface="Microsoft Sans Serif"/>
                <a:ea typeface="Microsoft Sans Serif"/>
                <a:cs typeface="Microsoft Sans Serif"/>
              </a:rPr>
              <a:t>repository:</a:t>
            </a:r>
            <a:r>
              <a:rPr lang="en-US" dirty="0">
                <a:solidFill>
                  <a:srgbClr val="000000"/>
                </a:solidFill>
                <a:latin typeface="Microsoft Sans Serif"/>
                <a:ea typeface="Microsoft Sans Serif"/>
                <a:cs typeface="Microsoft Sans Serif"/>
              </a:rPr>
              <a:t> </a:t>
            </a:r>
            <a:r>
              <a:rPr lang="en-US" dirty="0">
                <a:latin typeface="Microsoft Sans Serif"/>
                <a:ea typeface="Microsoft Sans Serif"/>
                <a:cs typeface="Microsoft Sans Serif"/>
              </a:rPr>
              <a:t>a folder containing files, that is tracked by git. (a.k.a. repo)</a:t>
            </a:r>
            <a:endParaRPr lang="en-US" dirty="0">
              <a:latin typeface="Aptos" panose="020B0004020202020204"/>
              <a:ea typeface="Microsoft Sans Serif"/>
              <a:cs typeface="Microsoft Sans Serif"/>
            </a:endParaRPr>
          </a:p>
          <a:p>
            <a:endParaRPr lang="en-US" dirty="0">
              <a:latin typeface="Microsoft Sans Serif"/>
              <a:ea typeface="Microsoft Sans Serif"/>
              <a:cs typeface="Microsoft Sans Serif"/>
            </a:endParaRPr>
          </a:p>
          <a:p>
            <a:r>
              <a:rPr lang="en-US" dirty="0">
                <a:solidFill>
                  <a:srgbClr val="002060"/>
                </a:solidFill>
                <a:latin typeface="Microsoft Sans Serif"/>
                <a:ea typeface="Microsoft Sans Serif"/>
                <a:cs typeface="Microsoft Sans Serif"/>
              </a:rPr>
              <a:t>clone:</a:t>
            </a:r>
            <a:r>
              <a:rPr lang="en-US" dirty="0">
                <a:solidFill>
                  <a:srgbClr val="000000"/>
                </a:solidFill>
                <a:latin typeface="Microsoft Sans Serif"/>
                <a:ea typeface="Microsoft Sans Serif"/>
                <a:cs typeface="Microsoft Sans Serif"/>
              </a:rPr>
              <a:t>	</a:t>
            </a:r>
            <a:r>
              <a:rPr lang="en-US" dirty="0">
                <a:latin typeface="Microsoft Sans Serif"/>
                <a:ea typeface="Microsoft Sans Serif"/>
                <a:cs typeface="Microsoft Sans Serif"/>
              </a:rPr>
              <a:t>a git command, make a local repository that is a copy of a GitHub repository</a:t>
            </a:r>
            <a:endParaRPr lang="en-US" dirty="0"/>
          </a:p>
          <a:p>
            <a:r>
              <a:rPr lang="en-US" dirty="0">
                <a:solidFill>
                  <a:srgbClr val="002060"/>
                </a:solidFill>
                <a:latin typeface="Microsoft Sans Serif"/>
                <a:ea typeface="Microsoft Sans Serif"/>
                <a:cs typeface="Microsoft Sans Serif"/>
              </a:rPr>
              <a:t>pull:	</a:t>
            </a:r>
            <a:r>
              <a:rPr lang="en-US" dirty="0">
                <a:latin typeface="Microsoft Sans Serif"/>
                <a:ea typeface="Microsoft Sans Serif"/>
                <a:cs typeface="Microsoft Sans Serif"/>
              </a:rPr>
              <a:t>a git command, update a local repository to match its GitHub repository</a:t>
            </a:r>
          </a:p>
          <a:p>
            <a:r>
              <a:rPr lang="en-US" dirty="0">
                <a:solidFill>
                  <a:srgbClr val="002060"/>
                </a:solidFill>
                <a:latin typeface="Microsoft Sans Serif"/>
                <a:ea typeface="Microsoft Sans Serif"/>
                <a:cs typeface="Microsoft Sans Serif"/>
              </a:rPr>
              <a:t>push:	</a:t>
            </a:r>
            <a:r>
              <a:rPr lang="en-US" dirty="0">
                <a:latin typeface="Microsoft Sans Serif"/>
                <a:ea typeface="Microsoft Sans Serif"/>
                <a:cs typeface="Microsoft Sans Serif"/>
              </a:rPr>
              <a:t>a git command, update the GitHub repository to match a local repository</a:t>
            </a:r>
          </a:p>
          <a:p>
            <a:endParaRPr lang="en-US" dirty="0">
              <a:latin typeface="Microsoft Sans Serif"/>
              <a:ea typeface="Microsoft Sans Serif"/>
              <a:cs typeface="Microsoft Sans Serif"/>
            </a:endParaRPr>
          </a:p>
          <a:p>
            <a:endParaRPr lang="en-US" dirty="0">
              <a:latin typeface="Microsoft Sans Serif"/>
              <a:ea typeface="Microsoft Sans Serif"/>
              <a:cs typeface="Microsoft Sans Serif"/>
            </a:endParaRPr>
          </a:p>
          <a:p>
            <a:endParaRPr lang="en-US" dirty="0">
              <a:latin typeface="Microsoft Sans Serif"/>
              <a:ea typeface="Microsoft Sans Serif"/>
              <a:cs typeface="Microsoft Sans Serif"/>
            </a:endParaRPr>
          </a:p>
          <a:p>
            <a:endParaRPr lang="en-US" dirty="0">
              <a:latin typeface="Microsoft Sans Serif"/>
              <a:ea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35719168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1B08CF-372A-068F-CAEE-7C3D2E717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7">
            <a:extLst>
              <a:ext uri="{FF2B5EF4-FFF2-40B4-BE49-F238E27FC236}">
                <a16:creationId xmlns:a16="http://schemas.microsoft.com/office/drawing/2014/main" id="{6DEC832A-5926-2C44-1348-C26E3FE0A372}"/>
              </a:ext>
            </a:extLst>
          </p:cNvPr>
          <p:cNvSpPr txBox="1"/>
          <p:nvPr/>
        </p:nvSpPr>
        <p:spPr>
          <a:xfrm>
            <a:off x="1317" y="133326"/>
            <a:ext cx="4443563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</a:t>
            </a:r>
          </a:p>
          <a:p>
            <a:r>
              <a:rPr lang="en-US" sz="1600" b="1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         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06BE000-A4AF-E0C7-337D-E58FA9F219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4E6B289-BB88-A170-0E81-1BBE498CB194}"/>
              </a:ext>
            </a:extLst>
          </p:cNvPr>
          <p:cNvSpPr txBox="1"/>
          <p:nvPr/>
        </p:nvSpPr>
        <p:spPr>
          <a:xfrm>
            <a:off x="491240" y="1606338"/>
            <a:ext cx="1092641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Microsoft Sans Serif"/>
                <a:ea typeface="Microsoft Sans Serif"/>
                <a:cs typeface="Microsoft Sans Serif"/>
              </a:rPr>
              <a:t> </a:t>
            </a:r>
            <a:endParaRPr lang="en-US" dirty="0">
              <a:latin typeface="Microsoft Sans Serif"/>
              <a:ea typeface="Microsoft Sans Serif"/>
              <a:cs typeface="Microsoft Sans Serif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3DC776-7DAE-748E-1C16-AB3157054346}"/>
              </a:ext>
            </a:extLst>
          </p:cNvPr>
          <p:cNvSpPr txBox="1"/>
          <p:nvPr/>
        </p:nvSpPr>
        <p:spPr>
          <a:xfrm>
            <a:off x="320068" y="1081773"/>
            <a:ext cx="778454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u="sng" dirty="0">
                <a:latin typeface="Microsoft Sans Serif"/>
                <a:ea typeface="Microsoft Sans Serif"/>
                <a:cs typeface="Microsoft Sans Serif"/>
              </a:rPr>
              <a:t>Step 11.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A3910A-5E04-9E25-502F-A51F884B838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1974"/>
          <a:stretch>
            <a:fillRect/>
          </a:stretch>
        </p:blipFill>
        <p:spPr>
          <a:xfrm>
            <a:off x="2528558" y="1791004"/>
            <a:ext cx="6713755" cy="3753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1195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0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1A9071-6750-299D-C957-98AFD45BE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7">
            <a:extLst>
              <a:ext uri="{FF2B5EF4-FFF2-40B4-BE49-F238E27FC236}">
                <a16:creationId xmlns:a16="http://schemas.microsoft.com/office/drawing/2014/main" id="{1D343F02-C4F6-0C42-4729-40ADA6063814}"/>
              </a:ext>
            </a:extLst>
          </p:cNvPr>
          <p:cNvSpPr txBox="1"/>
          <p:nvPr/>
        </p:nvSpPr>
        <p:spPr>
          <a:xfrm>
            <a:off x="1317" y="133326"/>
            <a:ext cx="4443563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</a:t>
            </a:r>
          </a:p>
          <a:p>
            <a:r>
              <a:rPr lang="en-US" sz="1600" b="1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         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6DA4944-758A-B8B2-1A96-82AC4036D1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04F87BF-6C5B-BCBC-8CB3-343AFEEE1CB8}"/>
              </a:ext>
            </a:extLst>
          </p:cNvPr>
          <p:cNvSpPr txBox="1"/>
          <p:nvPr/>
        </p:nvSpPr>
        <p:spPr>
          <a:xfrm>
            <a:off x="491240" y="1606338"/>
            <a:ext cx="1092641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Microsoft Sans Serif"/>
                <a:ea typeface="Microsoft Sans Serif"/>
                <a:cs typeface="Microsoft Sans Serif"/>
              </a:rPr>
              <a:t> </a:t>
            </a:r>
            <a:endParaRPr lang="en-US" dirty="0">
              <a:latin typeface="Microsoft Sans Serif"/>
              <a:ea typeface="Microsoft Sans Serif"/>
              <a:cs typeface="Microsoft Sans Serif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FFF1C3-8CA5-884D-A91C-8E5E22A75647}"/>
              </a:ext>
            </a:extLst>
          </p:cNvPr>
          <p:cNvSpPr txBox="1"/>
          <p:nvPr/>
        </p:nvSpPr>
        <p:spPr>
          <a:xfrm>
            <a:off x="320068" y="1081773"/>
            <a:ext cx="778454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u="sng" dirty="0">
                <a:latin typeface="Microsoft Sans Serif"/>
                <a:ea typeface="Microsoft Sans Serif"/>
                <a:cs typeface="Microsoft Sans Serif"/>
              </a:rPr>
              <a:t>Step 11.</a:t>
            </a:r>
            <a:endParaRPr lang="en-US" dirty="0"/>
          </a:p>
        </p:txBody>
      </p:sp>
      <p:pic>
        <p:nvPicPr>
          <p:cNvPr id="3" name="Elemento grafico 13">
            <a:extLst>
              <a:ext uri="{FF2B5EF4-FFF2-40B4-BE49-F238E27FC236}">
                <a16:creationId xmlns:a16="http://schemas.microsoft.com/office/drawing/2014/main" id="{94810F23-649F-6EEA-4AD2-C5B68E6A17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99530" y="1294888"/>
            <a:ext cx="8935053" cy="5025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176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62</TotalTime>
  <Words>445</Words>
  <Application>Microsoft Office PowerPoint</Application>
  <PresentationFormat>Widescreen</PresentationFormat>
  <Paragraphs>101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3" baseType="lpstr">
      <vt:lpstr>Aptos</vt:lpstr>
      <vt:lpstr>Aptos Display</vt:lpstr>
      <vt:lpstr>Arial</vt:lpstr>
      <vt:lpstr>Consolas</vt:lpstr>
      <vt:lpstr>Courier New</vt:lpstr>
      <vt:lpstr>Gautami</vt:lpstr>
      <vt:lpstr>Microsoft Sans Serif</vt:lpstr>
      <vt:lpstr>Segoe UI</vt:lpstr>
      <vt:lpstr>Yale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Mitch Horn</dc:creator>
  <cp:lastModifiedBy>Horn, Mitchell</cp:lastModifiedBy>
  <cp:revision>358</cp:revision>
  <dcterms:created xsi:type="dcterms:W3CDTF">2025-11-21T13:02:40Z</dcterms:created>
  <dcterms:modified xsi:type="dcterms:W3CDTF">2025-11-21T15:13:55Z</dcterms:modified>
</cp:coreProperties>
</file>